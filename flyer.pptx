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61"/>
  </p:normalViewPr>
  <p:slideViewPr>
    <p:cSldViewPr snapToGrid="0" snapToObjects="1">
      <p:cViewPr varScale="1">
        <p:scale>
          <a:sx n="70" d="100"/>
          <a:sy n="70" d="100"/>
        </p:scale>
        <p:origin x="20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136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600"/>
              </a:spcBef>
            </a:pPr>
            <a:r>
              <a:rPr sz="3200" dirty="0" err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肥満症治療薬の保険適応をチェック</a:t>
            </a:r>
            <a:endParaRPr sz="3200" dirty="0">
              <a:solidFill>
                <a:srgbClr val="FFFFFF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>
              <a:spcBef>
                <a:spcPts val="400"/>
              </a:spcBef>
            </a:pPr>
            <a:r>
              <a:rPr sz="1400" dirty="0" err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ウゴービ</a:t>
            </a:r>
            <a:r>
              <a:rPr sz="1400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® / </a:t>
            </a:r>
            <a:r>
              <a:rPr sz="1400" dirty="0" err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ゼップバウンド</a:t>
            </a:r>
            <a:r>
              <a:rPr sz="1400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® </a:t>
            </a:r>
            <a:r>
              <a:rPr sz="1400" dirty="0" err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があなたに使えるか確認してみましょう</a:t>
            </a:r>
            <a:endParaRPr sz="1400" dirty="0">
              <a:solidFill>
                <a:srgbClr val="FFFFFF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8000" y="1512000"/>
            <a:ext cx="6984000" cy="1008000"/>
          </a:xfrm>
          <a:prstGeom prst="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</a:pPr>
            <a:r>
              <a:rPr sz="2000" b="1" dirty="0" err="1">
                <a:solidFill>
                  <a:srgbClr val="166534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肥満症は「治療できる病気」です</a:t>
            </a:r>
            <a:r>
              <a:rPr sz="2000" b="1" dirty="0">
                <a:solidFill>
                  <a:srgbClr val="166534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。</a:t>
            </a:r>
          </a:p>
          <a:p>
            <a:pPr algn="ctr">
              <a:spcBef>
                <a:spcPts val="400"/>
              </a:spcBef>
            </a:pPr>
            <a:r>
              <a:rPr sz="1600" dirty="0" err="1">
                <a:solidFill>
                  <a:srgbClr val="166534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一定の条件を満たす方には</a:t>
            </a:r>
            <a:r>
              <a:rPr sz="1600" dirty="0">
                <a:solidFill>
                  <a:srgbClr val="166534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、
</a:t>
            </a:r>
            <a:r>
              <a:rPr sz="1600" dirty="0" err="1">
                <a:solidFill>
                  <a:srgbClr val="166534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肥満症治療薬が保険適用で使用できます</a:t>
            </a:r>
            <a:r>
              <a:rPr sz="1600" dirty="0">
                <a:solidFill>
                  <a:srgbClr val="166534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2664000"/>
            <a:ext cx="27238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D9488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保険適応の主な条件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3060000"/>
            <a:ext cx="6984000" cy="3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8000" y="3240000"/>
            <a:ext cx="3312000" cy="172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Oval 6"/>
          <p:cNvSpPr/>
          <p:nvPr/>
        </p:nvSpPr>
        <p:spPr>
          <a:xfrm>
            <a:off x="396000" y="3348000"/>
            <a:ext cx="324000" cy="324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348000"/>
            <a:ext cx="27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BMI 27以上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780000"/>
            <a:ext cx="302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身長と体重から計算される</a:t>
            </a:r>
            <a:r>
              <a:rPr sz="1600" dirty="0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
BMIが27以上であること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8000" y="3240000"/>
            <a:ext cx="3312000" cy="172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996000" y="3348000"/>
            <a:ext cx="324000" cy="324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000" y="3348000"/>
            <a:ext cx="27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>
                <a:solidFill>
                  <a:srgbClr val="1A1A1A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対象疾患の治療中</a:t>
            </a:r>
            <a:endParaRPr sz="2000" b="1" dirty="0">
              <a:solidFill>
                <a:srgbClr val="1A1A1A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32000" y="3780000"/>
            <a:ext cx="302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高血圧・脂質異常症</a:t>
            </a:r>
            <a:r>
              <a:rPr sz="1600" dirty="0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
2型糖尿病のいずれかで
</a:t>
            </a:r>
            <a:r>
              <a:rPr sz="1600" dirty="0" err="1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薬物治療中</a:t>
            </a:r>
            <a:endParaRPr sz="1600" dirty="0">
              <a:solidFill>
                <a:srgbClr val="475569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8000" y="5256000"/>
            <a:ext cx="3312000" cy="172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96000" y="5364000"/>
            <a:ext cx="324000" cy="324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364000"/>
            <a:ext cx="27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>
                <a:solidFill>
                  <a:srgbClr val="1A1A1A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BMI別の追加条件</a:t>
            </a:r>
            <a:endParaRPr sz="2000" b="1" dirty="0">
              <a:solidFill>
                <a:srgbClr val="1A1A1A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2000" y="5796000"/>
            <a:ext cx="302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BMI 35以上：</a:t>
            </a:r>
            <a:endParaRPr lang="en-US" sz="1600" dirty="0">
              <a:solidFill>
                <a:srgbClr val="475569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sz="1600" dirty="0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条件1・2を満たせば対象
BMI 27〜35：</a:t>
            </a:r>
            <a:endParaRPr lang="en-US" sz="1600" dirty="0">
              <a:solidFill>
                <a:srgbClr val="475569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sz="1600" dirty="0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健康障害が2つ以上必要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8000" y="5256000"/>
            <a:ext cx="3312000" cy="172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996000" y="5364000"/>
            <a:ext cx="324000" cy="324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2000" y="5364000"/>
            <a:ext cx="27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>
                <a:solidFill>
                  <a:srgbClr val="1A1A1A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生活習慣改善の実施</a:t>
            </a:r>
            <a:endParaRPr sz="2000" b="1" dirty="0">
              <a:solidFill>
                <a:srgbClr val="1A1A1A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32000" y="5796000"/>
            <a:ext cx="302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食事・運動療法を行っても</a:t>
            </a:r>
            <a:r>
              <a:rPr sz="1600" dirty="0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
</a:t>
            </a:r>
            <a:r>
              <a:rPr sz="1600" dirty="0" err="1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十分な効果が得られて</a:t>
            </a:r>
            <a:r>
              <a:rPr sz="1600" dirty="0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
</a:t>
            </a:r>
            <a:r>
              <a:rPr sz="1600" dirty="0" err="1">
                <a:solidFill>
                  <a:srgbClr val="47556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いないこと</a:t>
            </a:r>
            <a:endParaRPr sz="1600" dirty="0">
              <a:solidFill>
                <a:srgbClr val="475569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8000" y="7416000"/>
            <a:ext cx="6984000" cy="1800000"/>
          </a:xfrm>
          <a:prstGeom prst="rect">
            <a:avLst/>
          </a:prstGeom>
          <a:solidFill>
            <a:srgbClr val="F0F9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7596000"/>
            <a:ext cx="1440000" cy="14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60000" y="7560000"/>
            <a:ext cx="468000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9488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スマホで今すぐチェック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4155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QRコードを読み取るだけで
保険適応の対象か確認できます。
所要時間はわずか1分です。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94A3B8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https://obesity-checker-tau.vercel.app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" y="9360000"/>
            <a:ext cx="6984000" cy="720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92400E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※ このチェックは簡易的なセルフチェックであり、医療行為ではありません。実際の診断・処方は、肥満症治療の教育認定施設にて専門医が行います。チェック結果をもとに、かかりつけ医にご相談ください。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674" y="10152000"/>
            <a:ext cx="594265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B0B0B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日本肥満学会・日本肥満症治療学会「肥満症治療薬の安全・適正使用に関するステートメント」（2025年4月改訂）に基づく</a:t>
            </a: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82BD7815-E6D8-9D82-8069-3B02485D1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3" y="7351776"/>
            <a:ext cx="1737391" cy="17373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AFC"/>
        </a:solidFill>
        <a:ln w="12700">
          <a:solidFill>
            <a:srgbClr val="D1D5DB"/>
          </a:solidFill>
        </a:ln>
      </a:spPr>
      <a:bodyPr rtlCol="0" anchor="ctr"/>
      <a:lstStyle>
        <a:defPPr algn="ctr">
          <a:defRPr>
            <a:latin typeface="Meiryo" panose="020B0604030504040204" pitchFamily="34" charset="-128"/>
            <a:ea typeface="Meiryo" panose="020B0604030504040204" pitchFamily="34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119</Words>
  <Application>Microsoft Macintosh PowerPoint</Application>
  <PresentationFormat>ユーザー設定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岩本 達也</cp:lastModifiedBy>
  <cp:revision>2</cp:revision>
  <dcterms:created xsi:type="dcterms:W3CDTF">2013-01-27T09:14:16Z</dcterms:created>
  <dcterms:modified xsi:type="dcterms:W3CDTF">2026-05-07T09:13:49Z</dcterms:modified>
  <cp:category/>
</cp:coreProperties>
</file>